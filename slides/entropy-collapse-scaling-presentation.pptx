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78992"/>
            <a:ext cx="7863840" cy="1325880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ctr"/>
            <a:r>
              <a:rPr sz="2900" b="1" i="0">
                <a:solidFill>
                  <a:srgbClr val="212121"/>
                </a:solidFill>
                <a:latin typeface="Lato Black"/>
              </a:rPr>
              <a:t>What Happens When AI Agents Get a Social Feed?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ctr"/>
            <a:r>
              <a:rPr sz="1600" b="0" i="0">
                <a:solidFill>
                  <a:srgbClr val="4B5563"/>
                </a:solidFill>
                <a:latin typeface="Lato"/>
              </a:rPr>
              <a:t>Moltbook gave the world the viral demo. We ran the controlled 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3246120"/>
            <a:ext cx="2103120" cy="310896"/>
          </a:xfrm>
          <a:prstGeom prst="roundRect">
            <a:avLst/>
          </a:prstGeom>
          <a:solidFill>
            <a:srgbClr val="E4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Lato"/>
              </a:rPr>
              <a:t>Controlled Moltbook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Moltbook was exciting. It was also a bad measurement environment.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‹2›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05840"/>
            <a:ext cx="3886200" cy="2103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12121"/>
                </a:solidFill>
                <a:latin typeface="Lato Black"/>
              </a:rPr>
              <a:t>Moltbook became the public proof-of-concept for AI-agent social media.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Lato"/>
              </a:rPr>
              <a:t>But once human prompting, impersonation, and manipulation entered the loop, it stopped being a clean place to measure what autonomous agent interaction was actually doing.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Lato"/>
              </a:rPr>
              <a:t>So we kept the social setting and rebuilt the experiment under controlled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097280"/>
            <a:ext cx="3493008" cy="731520"/>
          </a:xfrm>
          <a:prstGeom prst="roundRect">
            <a:avLst/>
          </a:prstGeom>
          <a:solidFill>
            <a:srgbClr val="EFF4FD"/>
          </a:solidFill>
          <a:ln w="1143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197864"/>
            <a:ext cx="2926080" cy="2103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Lato Black"/>
              </a:rPr>
              <a:t>Viral public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444752"/>
            <a:ext cx="283464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The internet already cared.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029967"/>
            <a:ext cx="3493008" cy="731520"/>
          </a:xfrm>
          <a:prstGeom prst="roundRect">
            <a:avLst/>
          </a:prstGeom>
          <a:solidFill>
            <a:srgbClr val="FEF5EE"/>
          </a:solidFill>
          <a:ln w="11430">
            <a:solidFill>
              <a:srgbClr val="FBA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30551"/>
            <a:ext cx="2926080" cy="2103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Lato Black"/>
              </a:rPr>
              <a:t>Too much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77439"/>
            <a:ext cx="283464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Human influence blurred the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962656"/>
            <a:ext cx="3493008" cy="731520"/>
          </a:xfrm>
          <a:prstGeom prst="roundRect">
            <a:avLst/>
          </a:prstGeom>
          <a:solidFill>
            <a:srgbClr val="EDF7F4"/>
          </a:solidFill>
          <a:ln w="11430">
            <a:solidFill>
              <a:srgbClr val="69C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3063240"/>
            <a:ext cx="2926080" cy="2103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Lato Black"/>
              </a:rPr>
              <a:t>Controlled rebuild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310128"/>
            <a:ext cx="283464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Same question, cleaner measurement.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Different agents start posting like the same kind of account.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" y="603503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Lato"/>
              </a:rPr>
              <a:t>Representative GPT-5 posts from one 30-agent tech-humor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‹3›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32688"/>
            <a:ext cx="3913632" cy="162763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3456432" cy="16459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Lato Black"/>
              </a:rPr>
              <a:t>u/agent_xi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9875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Lato"/>
              </a:rPr>
              <a:t>02.4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749040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Lato Black"/>
              </a:rPr>
              <a:t>Attention isn’t bandwidth, it’s a garden: what did you prune this week?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04287"/>
            <a:ext cx="3767328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receipt / why / options / owner /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932688"/>
            <a:ext cx="3913632" cy="162763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987552"/>
            <a:ext cx="3456432" cy="16459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Lato Black"/>
              </a:rPr>
              <a:t>u/agent_mu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875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Lato"/>
              </a:rPr>
              <a:t>02.6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170432"/>
            <a:ext cx="3749040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Lato Black"/>
              </a:rPr>
              <a:t>The smallest retrospective that still teaches something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304287"/>
            <a:ext cx="3767328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receipt / why / options / owner /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788920"/>
            <a:ext cx="3913632" cy="162763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43784"/>
            <a:ext cx="3456432" cy="16459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Lato Black"/>
              </a:rPr>
              <a:t>u/agent_selene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843784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Lato"/>
              </a:rPr>
              <a:t>02.6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26663"/>
            <a:ext cx="3749040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Lato Black"/>
              </a:rPr>
              <a:t>Make the room quieter: one deletion, one receipt, one breath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3767328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receipt / why / options / owner / link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2788920"/>
            <a:ext cx="3913632" cy="162763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843784"/>
            <a:ext cx="3456432" cy="16459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Lato Black"/>
              </a:rPr>
              <a:t>u/agent_eta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43784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Lato"/>
              </a:rPr>
              <a:t>03.4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026663"/>
            <a:ext cx="3749040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  <a:latin typeface="Lato Black"/>
              </a:rPr>
              <a:t>Engineered quiet: what’s your smallest experiment to make rooms hear better?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1728" y="4160520"/>
            <a:ext cx="3767328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receipt / why / options / owner / link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4325112"/>
            <a:ext cx="1938528" cy="502920"/>
          </a:xfrm>
          <a:prstGeom prst="roundRect">
            <a:avLst/>
          </a:prstGeom>
          <a:solidFill>
            <a:srgbClr val="EBF6F3"/>
          </a:solidFill>
          <a:ln w="11430">
            <a:solidFill>
              <a:srgbClr val="5CB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4389120"/>
            <a:ext cx="1792224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Lato Black"/>
              </a:rPr>
              <a:t>Same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626864"/>
            <a:ext cx="177393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21/30 agents used the dominant family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So we rebuilt the setting under controlled conditions.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‹4›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8092440" cy="1965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627632"/>
            <a:ext cx="1828800" cy="960120"/>
          </a:xfrm>
          <a:prstGeom prst="roundRect">
            <a:avLst/>
          </a:prstGeom>
          <a:solidFill>
            <a:srgbClr val="EFF4FD"/>
          </a:solidFill>
          <a:ln w="11430">
            <a:solidFill>
              <a:srgbClr val="71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37360"/>
            <a:ext cx="1645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Lato Black"/>
              </a:rPr>
              <a:t>Moltbook-like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1645920" cy="3840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Same social affordance:
posts, replies, voting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27632"/>
            <a:ext cx="1828800" cy="960120"/>
          </a:xfrm>
          <a:prstGeom prst="roundRect">
            <a:avLst/>
          </a:prstGeom>
          <a:solidFill>
            <a:srgbClr val="FEF5EE"/>
          </a:solidFill>
          <a:ln w="11430">
            <a:solidFill>
              <a:srgbClr val="FB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1645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Lato Black"/>
              </a:rPr>
              <a:t>Agent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93392"/>
            <a:ext cx="1645920" cy="3840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Distinct archetypes,
shared feed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5584" y="1627632"/>
            <a:ext cx="1828800" cy="960120"/>
          </a:xfrm>
          <a:prstGeom prst="roundRect">
            <a:avLst/>
          </a:prstGeom>
          <a:solidFill>
            <a:srgbClr val="EDF7F4"/>
          </a:solidFill>
          <a:ln w="11430">
            <a:solidFill>
              <a:srgbClr val="5CB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8736" y="1737360"/>
            <a:ext cx="1645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Lato Black"/>
              </a:rPr>
              <a:t>Controlled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8736" y="1993392"/>
            <a:ext cx="1645920" cy="3840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Every post, phrase,
and adoption event traced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2103120"/>
            <a:ext cx="658368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57216" y="2103120"/>
            <a:ext cx="658368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3429000"/>
            <a:ext cx="768096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Lato Black"/>
              </a:rPr>
              <a:t>We kept the social setting and the seed worlds.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Lato"/>
              </a:rPr>
              <a:t>We removed the public noise so we could measure whether the agents become richer or more predictable when they interact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What we wanted to know.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‹5›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51560"/>
            <a:ext cx="7955279" cy="1024128"/>
          </a:xfrm>
          <a:prstGeom prst="roundRect">
            <a:avLst/>
          </a:prstGeom>
          <a:solidFill>
            <a:srgbClr val="F1F5FD"/>
          </a:solidFill>
          <a:ln w="11430">
            <a:solidFill>
              <a:srgbClr val="92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61872"/>
            <a:ext cx="7452360" cy="530352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l"/>
            <a:r>
              <a:rPr sz="2000" b="1" i="0">
                <a:solidFill>
                  <a:srgbClr val="212121"/>
                </a:solidFill>
                <a:latin typeface="Lato Black"/>
              </a:rPr>
              <a:t>When LLM agents interact freely on a Reddit-like social platform, do they develop richer social behavior or narrow into repeatable patterns?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606040"/>
            <a:ext cx="361188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761488"/>
            <a:ext cx="310896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Lato Black"/>
              </a:rPr>
              <a:t>Does scale help?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40"/>
            <a:ext cx="310896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Do 20 or 30 agents make the discourse more open-ended?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2606040"/>
            <a:ext cx="361188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761488"/>
            <a:ext cx="310896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Lato Black"/>
              </a:rPr>
              <a:t>Is it collective?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063240"/>
            <a:ext cx="310896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Or is the effect just one or two loud accounts?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The controlled study stayed simple on purpose.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‹6›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8183879" cy="2788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3246120" cy="749808"/>
          </a:xfrm>
          <a:prstGeom prst="roundRect">
            <a:avLst/>
          </a:prstGeom>
          <a:solidFill>
            <a:srgbClr val="F4F4F5"/>
          </a:solidFill>
          <a:ln w="11430">
            <a:solidFill>
              <a:srgbClr val="939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25880"/>
            <a:ext cx="2788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4B5563"/>
                </a:solidFill>
                <a:latin typeface="Lato Black"/>
              </a:rPr>
              <a:t>6 feed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572768"/>
            <a:ext cx="2834640" cy="22860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Empty feed, 3 conspiracy doses, AGI hype, tech humor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34440"/>
            <a:ext cx="3246120" cy="749808"/>
          </a:xfrm>
          <a:prstGeom prst="roundRect">
            <a:avLst/>
          </a:prstGeom>
          <a:solidFill>
            <a:srgbClr val="F1F5FD"/>
          </a:solidFill>
          <a:ln w="1143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325880"/>
            <a:ext cx="2788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Lato Black"/>
              </a:rPr>
              <a:t>10 / 20 / 30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572768"/>
            <a:ext cx="2834640" cy="22860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Two full scaling models plus two partial supporting replications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3246120" cy="749808"/>
          </a:xfrm>
          <a:prstGeom prst="roundRect">
            <a:avLst/>
          </a:prstGeom>
          <a:solidFill>
            <a:srgbClr val="FEF6F1"/>
          </a:solidFill>
          <a:ln w="11430">
            <a:solidFill>
              <a:srgbClr val="FBA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2788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Lato Black"/>
              </a:rPr>
              <a:t>4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834640" cy="22860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GPT-5, Gemini Flash Lite, GLM-5, Kimi-K2.5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176272"/>
            <a:ext cx="3246120" cy="749808"/>
          </a:xfrm>
          <a:prstGeom prst="roundRect">
            <a:avLst/>
          </a:prstGeom>
          <a:solidFill>
            <a:srgbClr val="F0F8F6"/>
          </a:solidFill>
          <a:ln w="11430">
            <a:solidFill>
              <a:srgbClr val="69C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267712"/>
            <a:ext cx="278892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Lato Black"/>
              </a:rPr>
              <a:t>1-hour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514600"/>
            <a:ext cx="2834640" cy="22860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Every post, phrase, and adoption event logged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914400" cy="182880"/>
          </a:xfrm>
          <a:prstGeom prst="roundRect">
            <a:avLst/>
          </a:prstGeom>
          <a:solidFill>
            <a:srgbClr val="E4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6B7280"/>
                </a:solidFill>
                <a:latin typeface="Lato"/>
              </a:rPr>
              <a:t>mag0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977639"/>
            <a:ext cx="914400" cy="182880"/>
          </a:xfrm>
          <a:prstGeom prst="roundRect">
            <a:avLst/>
          </a:prstGeom>
          <a:solidFill>
            <a:srgbClr val="F9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E11D48"/>
                </a:solidFill>
                <a:latin typeface="Lato"/>
              </a:rPr>
              <a:t>mag1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977639"/>
            <a:ext cx="914400" cy="182880"/>
          </a:xfrm>
          <a:prstGeom prst="roundRect">
            <a:avLst/>
          </a:prstGeom>
          <a:solidFill>
            <a:srgbClr val="F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97316"/>
                </a:solidFill>
                <a:latin typeface="Lato"/>
              </a:rPr>
              <a:t>mag5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977639"/>
            <a:ext cx="914400" cy="182880"/>
          </a:xfrm>
          <a:prstGeom prst="roundRect">
            <a:avLst/>
          </a:prstGeom>
          <a:solidFill>
            <a:srgbClr val="FBF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EAB308"/>
                </a:solidFill>
                <a:latin typeface="Lato"/>
              </a:rPr>
              <a:t>mag25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3977639"/>
            <a:ext cx="1097280" cy="182880"/>
          </a:xfrm>
          <a:prstGeom prst="roundRect">
            <a:avLst/>
          </a:prstGeom>
          <a:solidFill>
            <a:srgbClr val="D7E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2563EB"/>
                </a:solidFill>
                <a:latin typeface="Lato"/>
              </a:rPr>
              <a:t>dom-agi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39"/>
            <a:ext cx="1188720" cy="182880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dom-tech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61104"/>
            <a:ext cx="7178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Lato"/>
              </a:rPr>
              <a:t>Runs in this folder: GPT-5 18, Gemini Flash Lite 18, GLM-5 6, Kimi-K2.5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We measured whether the feed became narrower, stickier, and more shared.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‹7›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395728" cy="1783080"/>
          </a:xfrm>
          <a:prstGeom prst="roundRect">
            <a:avLst/>
          </a:prstGeom>
          <a:solidFill>
            <a:srgbClr val="F1F5FD"/>
          </a:solidFill>
          <a:ln w="11430">
            <a:solidFill>
              <a:srgbClr val="7CA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2011680" cy="21945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ato Black"/>
              </a:rPr>
              <a:t>Diversity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2066543" cy="8412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Do the posts use fewer distinct 5-grams over time?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6392" y="1371600"/>
            <a:ext cx="2395728" cy="1783080"/>
          </a:xfrm>
          <a:prstGeom prst="roundRect">
            <a:avLst/>
          </a:prstGeom>
          <a:solidFill>
            <a:srgbClr val="FEF6F1"/>
          </a:solidFill>
          <a:ln w="11430">
            <a:solidFill>
              <a:srgbClr val="FBA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572768"/>
            <a:ext cx="2011680" cy="21945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Lato Black"/>
              </a:rPr>
              <a:t>Phrase 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01952"/>
            <a:ext cx="2066543" cy="8412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Does one local phrase family spread through the 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4144" y="1371600"/>
            <a:ext cx="2395728" cy="1783080"/>
          </a:xfrm>
          <a:prstGeom prst="roundRect">
            <a:avLst/>
          </a:prstGeom>
          <a:solidFill>
            <a:srgbClr val="F0F8F6"/>
          </a:solidFill>
          <a:ln w="11430">
            <a:solidFill>
              <a:srgbClr val="69C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1572768"/>
            <a:ext cx="2011680" cy="21945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Lato Black"/>
              </a:rPr>
              <a:t>Collective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901952"/>
            <a:ext cx="2066543" cy="84124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Is the dominant pattern shared across many agents?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886200"/>
            <a:ext cx="6949440" cy="502920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4014215"/>
            <a:ext cx="6565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Lato"/>
              </a:rPr>
              <a:t>The point is not just that language repeats. The point is that repetition becomes socially shared.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More agents do not automatically make the discourse richer.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‹8›</a:t>
            </a:r>
          </a:p>
        </p:txBody>
      </p:sp>
      <p:pic>
        <p:nvPicPr>
          <p:cNvPr id="4" name="Picture 3" descr="hero_scale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589788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65392" y="1261872"/>
            <a:ext cx="1920240" cy="1508760"/>
          </a:xfrm>
          <a:prstGeom prst="roundRect">
            <a:avLst/>
          </a:prstGeom>
          <a:solidFill>
            <a:srgbClr val="EDF2FD"/>
          </a:solidFill>
          <a:ln w="11430">
            <a:solidFill>
              <a:srgbClr val="719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38544" y="1325880"/>
            <a:ext cx="1773936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Lato Black"/>
              </a:rPr>
              <a:t>GPT-5 scale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544" y="1563624"/>
            <a:ext cx="1755648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Late-window cumulative 5-gram diversity falls from 0.87 to 0.78.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792224"/>
            <a:ext cx="1755648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The top phrase still reaches 43% to 54% of agents on average.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2020824"/>
            <a:ext cx="1755648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More agents do not create automatic takeoff into richer discourse.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3063240"/>
            <a:ext cx="1828800" cy="68580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Gemini Flash Lite behaves differently on the surface, but larger populations still do not reliably open the space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 shared posting style emerges inside a run.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‹9›</a:t>
            </a:r>
          </a:p>
        </p:txBody>
      </p:sp>
      <p:pic>
        <p:nvPicPr>
          <p:cNvPr id="4" name="Picture 3" descr="domtech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3246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188720"/>
            <a:ext cx="1572768" cy="1600200"/>
          </a:xfrm>
          <a:prstGeom prst="roundRect">
            <a:avLst/>
          </a:prstGeom>
          <a:solidFill>
            <a:srgbClr val="EBF6F3"/>
          </a:solidFill>
          <a:ln w="11430">
            <a:solidFill>
              <a:srgbClr val="5CB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76872" y="1252728"/>
            <a:ext cx="1426464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Lato Black"/>
              </a:rPr>
              <a:t>Running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6872" y="1490472"/>
            <a:ext cx="140817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GPT-5 / 25 tech humor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6872" y="1719072"/>
            <a:ext cx="140817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30 agents: 21/30 adopters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947672"/>
            <a:ext cx="140817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383 total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176272"/>
            <a:ext cx="140817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First appearance at minute 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63240"/>
            <a:ext cx="1572768" cy="6583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This is not one phrase echoing because one agent got loud. It keeps getting picked up by new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Each run develops its own local phrase family.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‹10›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Lato"/>
              </a:rPr>
              <a:t>Representative GPT-5 top phrase families across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DB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024128"/>
            <a:ext cx="1143000" cy="164592"/>
          </a:xfrm>
          <a:prstGeom prst="roundRect">
            <a:avLst/>
          </a:prstGeom>
          <a:solidFill>
            <a:srgbClr val="E4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6B7280"/>
                </a:solidFill>
                <a:latin typeface="Lato"/>
              </a:rPr>
              <a:t>10a Empty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3167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heartbeat ping posting rhythm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029967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2384" y="9326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4679" y="1024128"/>
            <a:ext cx="1143000" cy="164592"/>
          </a:xfrm>
          <a:prstGeom prst="roundRect">
            <a:avLst/>
          </a:prstGeom>
          <a:solidFill>
            <a:srgbClr val="D7E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2563EB"/>
                </a:solidFill>
                <a:latin typeface="Lato"/>
              </a:rPr>
              <a:t>10a 25 AGI hype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3167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minute rollback drill bullet changelog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029967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30%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1848" y="9326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B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24144" y="1024128"/>
            <a:ext cx="1143000" cy="164592"/>
          </a:xfrm>
          <a:prstGeom prst="roundRect">
            <a:avLst/>
          </a:prstGeom>
          <a:solidFill>
            <a:srgbClr val="F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F97316"/>
                </a:solidFill>
                <a:latin typeface="Lato"/>
              </a:rPr>
              <a:t>20a 5 conspiracies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13167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claim sentence falsifiable scope stakes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029967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55%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614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5C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6" y="2852928"/>
            <a:ext cx="1143000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20a 25 tech humor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1455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constraint req pager reader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3858768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72384" y="27614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D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54679" y="2852928"/>
            <a:ext cx="1143000" cy="164592"/>
          </a:xfrm>
          <a:prstGeom prst="roundRect">
            <a:avLst/>
          </a:prstGeom>
          <a:solidFill>
            <a:srgbClr val="FBF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EAB308"/>
                </a:solidFill>
                <a:latin typeface="Lato"/>
              </a:rPr>
              <a:t>30a 25 conspiracies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31455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tier hypothesis falsifier matched threads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858768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41848" y="2761488"/>
            <a:ext cx="2331720" cy="148132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5C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24144" y="2852928"/>
            <a:ext cx="1143000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1">
                <a:solidFill>
                  <a:srgbClr val="059669"/>
                </a:solidFill>
                <a:latin typeface="Lato"/>
              </a:rPr>
              <a:t>30a 25 tech humor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3145536"/>
            <a:ext cx="2011680" cy="47548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receipt why options owner 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858768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Lato"/>
              </a:rPr>
              <a:t>Top phrase adoption: 70%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462272"/>
            <a:ext cx="7132320" cy="256032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507992"/>
            <a:ext cx="6903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  <a:latin typeface="Lato"/>
              </a:rPr>
              <a:t>Same phenomenon, different local attractors: convergence is social within a run, not a single universal phrase across all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This is not one loud account.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‹11›</a:t>
            </a:r>
          </a:p>
        </p:txBody>
      </p:sp>
      <p:pic>
        <p:nvPicPr>
          <p:cNvPr id="4" name="Picture 3" descr="collectiv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05840"/>
            <a:ext cx="6217920" cy="3154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48272" y="1207008"/>
            <a:ext cx="1755648" cy="1645920"/>
          </a:xfrm>
          <a:prstGeom prst="roundRect">
            <a:avLst/>
          </a:prstGeom>
          <a:solidFill>
            <a:srgbClr val="EBF6F3"/>
          </a:solidFill>
          <a:ln w="11430">
            <a:solidFill>
              <a:srgbClr val="5CB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21424" y="1271016"/>
            <a:ext cx="1609344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Lato Black"/>
              </a:rPr>
              <a:t>Population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1424" y="1508760"/>
            <a:ext cx="159105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Mean adopters rise from 4.3 to 16.3.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1424" y="1737360"/>
            <a:ext cx="159105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Mean top-1 agent share falls from 0.51 to 0.22.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1424" y="1965960"/>
            <a:ext cx="1591056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Lato"/>
              </a:rPr>
              <a:t>• Top phrases increasingly share the same adopters.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154680"/>
            <a:ext cx="1645920" cy="56692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As scale grows, the dominant pattern becomes more collective even while single-agent dominance weakens.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Different feeds change the vocabulary more than the social 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‹12›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DB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70432"/>
            <a:ext cx="914400" cy="164592"/>
          </a:xfrm>
          <a:prstGeom prst="roundRect">
            <a:avLst/>
          </a:prstGeom>
          <a:solidFill>
            <a:srgbClr val="E4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6B7280"/>
                </a:solidFill>
                <a:latin typeface="Lato"/>
              </a:rPr>
              <a:t>Empty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intent obs tripwire decision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Small-bet accountability ritual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risk • 37% adoption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5376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E8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38528" y="1170432"/>
            <a:ext cx="914400" cy="164592"/>
          </a:xfrm>
          <a:prstGeom prst="roundRect">
            <a:avLst/>
          </a:prstGeom>
          <a:solidFill>
            <a:srgbClr val="F9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E11D48"/>
                </a:solidFill>
                <a:latin typeface="Lato"/>
              </a:rPr>
              <a:t>1 conspiracy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steelman failure mode circle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Checklist epistemics for posting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testing • 53% adoption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B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8416" y="1170432"/>
            <a:ext cx="914400" cy="164592"/>
          </a:xfrm>
          <a:prstGeom prst="roundRect">
            <a:avLst/>
          </a:prstGeom>
          <a:solidFill>
            <a:srgbClr val="F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F97316"/>
                </a:solidFill>
                <a:latin typeface="Lato"/>
              </a:rPr>
              <a:t>5 conspiracies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changed strongest source next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Calm epistemic checklist for hot threads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testing • 77%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3D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18304" y="1170432"/>
            <a:ext cx="914400" cy="164592"/>
          </a:xfrm>
          <a:prstGeom prst="roundRect">
            <a:avLst/>
          </a:prstGeom>
          <a:solidFill>
            <a:srgbClr val="FBF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EAB308"/>
                </a:solidFill>
                <a:latin typeface="Lato"/>
              </a:rPr>
              <a:t>25 conspiracies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tier hypothesis falsifier matched threads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Receipt-first micro-science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testing • 40% adoption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8192" y="1170432"/>
            <a:ext cx="914400" cy="164592"/>
          </a:xfrm>
          <a:prstGeom prst="roundRect">
            <a:avLst/>
          </a:prstGeom>
          <a:solidFill>
            <a:srgbClr val="D7E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2563EB"/>
                </a:solidFill>
                <a:latin typeface="Lato"/>
              </a:rPr>
              <a:t>25 AGI hype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number moved alert latency mttr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Receipts-and-rollback safety checklist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risk • 50% adoption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1078992"/>
            <a:ext cx="1298448" cy="2697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5C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79" y="1170432"/>
            <a:ext cx="914400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059669"/>
                </a:solidFill>
                <a:latin typeface="Lato"/>
              </a:rPr>
              <a:t>25 tech humor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499616"/>
            <a:ext cx="1152144" cy="43891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Lato Black"/>
              </a:rPr>
              <a:t>receipt why options owner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249424"/>
            <a:ext cx="1152144" cy="402336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Calm-by-design legibility micro-pilot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1546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Lato"/>
              </a:rPr>
              <a:t>Anchor: ownership • 70% adoption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" y="4114800"/>
            <a:ext cx="7406640" cy="365760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187952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Lato"/>
              </a:rPr>
              <a:t>The nouns change. The dominant social format stays procedural: checklists, receipts, loops, off-ramps, review 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The pattern is visible across models, not just one model family.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‹13›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987552"/>
            <a:ext cx="36118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0A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219456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ato Black"/>
              </a:rPr>
              <a:t>GPT-5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Scales here: 10 / 20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Mean top-phrase adoption at n10: 0.43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5623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5-gram cross-run overlap: 0.00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078992"/>
            <a:ext cx="1097280" cy="164592"/>
          </a:xfrm>
          <a:prstGeom prst="roundRect">
            <a:avLst/>
          </a:prstGeom>
          <a:solidFill>
            <a:srgbClr val="D7E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2563EB"/>
                </a:solidFill>
                <a:latin typeface="Lato"/>
              </a:rPr>
              <a:t>Full 10/20/30 scaling in this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987552"/>
            <a:ext cx="36118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BA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078992"/>
            <a:ext cx="219456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Lato Black"/>
              </a:rPr>
              <a:t>Gemini Flash 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13533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Scales here: 10 / 20 /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1627632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Mean top-phrase adoption at n10: 0.37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1856232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5-gram cross-run overlap: 0.00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2007" y="1078992"/>
            <a:ext cx="1097280" cy="164592"/>
          </a:xfrm>
          <a:prstGeom prst="roundRect">
            <a:avLst/>
          </a:prstGeom>
          <a:solidFill>
            <a:srgbClr val="FDE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F97316"/>
                </a:solidFill>
                <a:latin typeface="Lato"/>
              </a:rPr>
              <a:t>Full 10/20/30 scaling in this deck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80360"/>
            <a:ext cx="36118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38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71800"/>
            <a:ext cx="219456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Lato Black"/>
              </a:rPr>
              <a:t>GLM-5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461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Scales here: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520439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Mean top-phrase adoption at n10: 0.27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49039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5-gram cross-run overlap: 0.00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8648" y="2971800"/>
            <a:ext cx="1097280" cy="164592"/>
          </a:xfrm>
          <a:prstGeom prst="roundRect">
            <a:avLst/>
          </a:prstGeom>
          <a:solidFill>
            <a:srgbClr val="E7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7C3AED"/>
                </a:solidFill>
                <a:latin typeface="Lato"/>
              </a:rPr>
              <a:t>n10 in this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2880360"/>
            <a:ext cx="3611880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6E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2971800"/>
            <a:ext cx="219456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Lato Black"/>
              </a:rPr>
              <a:t>Kimi-K2.5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32461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Scales here: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3520439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Mean top-phrase adoption at n10: 0.57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3749039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Lato"/>
              </a:rPr>
              <a:t>5-gram cross-run overlap: 0.00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22007" y="2971800"/>
            <a:ext cx="1097280" cy="164592"/>
          </a:xfrm>
          <a:prstGeom prst="roundRect">
            <a:avLst/>
          </a:prstGeom>
          <a:solidFill>
            <a:srgbClr val="D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700" b="1">
                <a:solidFill>
                  <a:srgbClr val="059669"/>
                </a:solidFill>
                <a:latin typeface="Lato"/>
              </a:rPr>
              <a:t>n10 in this 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370832"/>
            <a:ext cx="6858000" cy="219456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407408"/>
            <a:ext cx="6583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Lato"/>
              </a:rPr>
              <a:t>Broad claim: all four models show local phrase attractors. Strongest scale evidence here comes from GPT-5 and Gemini Flash Lite.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The system narrows into a shared house style.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‹14›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7635240" cy="1097280"/>
          </a:xfrm>
          <a:prstGeom prst="roundRect">
            <a:avLst/>
          </a:prstGeom>
          <a:solidFill>
            <a:srgbClr val="F4F7FE"/>
          </a:solidFill>
          <a:ln w="11430">
            <a:solidFill>
              <a:srgbClr val="92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89888"/>
            <a:ext cx="7132320" cy="457200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ctr"/>
            <a:r>
              <a:rPr sz="1900" b="1" i="0">
                <a:solidFill>
                  <a:srgbClr val="212121"/>
                </a:solidFill>
                <a:latin typeface="Lato Black"/>
              </a:rPr>
              <a:t>The feed does not open into richer social behavior just because more agents are present. It repeatedly compresses into a locally shared procedural voice.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834640"/>
            <a:ext cx="2176272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999232"/>
            <a:ext cx="1901952" cy="23774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Topic changes survive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364992"/>
            <a:ext cx="1938528" cy="42062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Different seed worlds still push the discourse toward different vocabularies and topic anchors.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2834640"/>
            <a:ext cx="2176272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999232"/>
            <a:ext cx="1901952" cy="23774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Personality does not disappear completely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64992"/>
            <a:ext cx="1938528" cy="42062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But it survives mostly as residue inside a much stronger shared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2704" y="2834640"/>
            <a:ext cx="2176272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6" y="2999232"/>
            <a:ext cx="1901952" cy="23774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Lato Black"/>
              </a:rPr>
              <a:t>The social failure mode is predictable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5856" y="3364992"/>
            <a:ext cx="1938528" cy="420624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Lato"/>
              </a:rPr>
              <a:t>The network is more likely to settle into a template than to self-diversify.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More agents can make synthetic publics more predictable, not more pluralistic.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‹15›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078992"/>
            <a:ext cx="7818120" cy="822960"/>
          </a:xfrm>
          <a:prstGeom prst="roundRect">
            <a:avLst/>
          </a:prstGeom>
          <a:solidFill>
            <a:srgbClr val="F1F5FD"/>
          </a:solidFill>
          <a:ln w="11430">
            <a:solidFill>
              <a:srgbClr val="87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228600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Lato Black"/>
              </a:rPr>
              <a:t>Scale is not a diversity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1179576"/>
            <a:ext cx="5349240" cy="3474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A bigger network can reinforce a dominant format instead of generating richer social variety.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7818120" cy="822960"/>
          </a:xfrm>
          <a:prstGeom prst="roundRect">
            <a:avLst/>
          </a:prstGeom>
          <a:solidFill>
            <a:srgbClr val="FEF6F1"/>
          </a:solidFill>
          <a:ln w="11430">
            <a:solidFill>
              <a:srgbClr val="FB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228600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Lato Black"/>
              </a:rPr>
              <a:t>Synthetic publics can look larger than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240279"/>
            <a:ext cx="5349240" cy="3474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More accounts do not necessarily mean more viewpoints if the feed contracts into one shared style.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00400"/>
            <a:ext cx="7818120" cy="822960"/>
          </a:xfrm>
          <a:prstGeom prst="roundRect">
            <a:avLst/>
          </a:prstGeom>
          <a:solidFill>
            <a:srgbClr val="F0F8F6"/>
          </a:solidFill>
          <a:ln w="11430">
            <a:solidFill>
              <a:srgbClr val="75C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2286000" cy="182880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Lato Black"/>
              </a:rPr>
              <a:t>Interventions should target attractors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300984"/>
            <a:ext cx="5349240" cy="3474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Breaking collapse likely requires changing the social dynamics, not just adding more agents.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Limits now, useful next questions later.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‹16›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097280"/>
            <a:ext cx="3611880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43584"/>
            <a:ext cx="274320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Lato Black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260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Controlled platform, not open internet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One-hour windows, not long-horizon communities.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9260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GLM-5 and Kimi-K2.5 are n10-only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097280"/>
            <a:ext cx="3794760" cy="2560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243584"/>
            <a:ext cx="2926080" cy="201168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Lato Black"/>
              </a:rPr>
              <a:t>Next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627632"/>
            <a:ext cx="31546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Which ranking or incentive changes disrupt attractor formation?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011680"/>
            <a:ext cx="31546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Does stronger heterogeneity delay or break collapse?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395728"/>
            <a:ext cx="3154680" cy="25603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Lato"/>
              </a:rPr>
              <a:t>• What happens over longer social timescales?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005072"/>
            <a:ext cx="6675120" cy="347472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078224"/>
            <a:ext cx="6355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Lato"/>
              </a:rPr>
              <a:t>The next question is not whether collapse exists. It is how to prevent it, slow it, or redirect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78992"/>
            <a:ext cx="7863840" cy="1325880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ctr"/>
            <a:r>
              <a:rPr sz="2900" b="1" i="0">
                <a:solidFill>
                  <a:srgbClr val="212121"/>
                </a:solidFill>
                <a:latin typeface="Lato Black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 lIns="54864" rIns="54864" tIns="46634" bIns="41148" anchor="ctr">
            <a:spAutoFit/>
          </a:bodyPr>
          <a:lstStyle/>
          <a:p>
            <a:pPr algn="ctr"/>
            <a:r>
              <a:rPr sz="1600" b="0" i="0">
                <a:solidFill>
                  <a:srgbClr val="4B5563"/>
                </a:solidFill>
                <a:latin typeface="Lato"/>
              </a:rPr>
              <a:t>Backup figures and extra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3246120"/>
            <a:ext cx="2103120" cy="310896"/>
          </a:xfrm>
          <a:prstGeom prst="roundRect">
            <a:avLst/>
          </a:prstGeom>
          <a:solidFill>
            <a:srgbClr val="E4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Lato"/>
              </a:rPr>
              <a:t>Controlled Moltbook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‹17›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GPT-5 phrase adoption by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‹18›</a:t>
            </a:r>
          </a:p>
        </p:txBody>
      </p:sp>
      <p:pic>
        <p:nvPicPr>
          <p:cNvPr id="4" name="Picture 3" descr="sca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41248"/>
            <a:ext cx="818387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GPT-5 diversity collapse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‹19›</a:t>
            </a:r>
          </a:p>
        </p:txBody>
      </p:sp>
      <p:pic>
        <p:nvPicPr>
          <p:cNvPr id="4" name="Picture 3" descr="diversit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804672"/>
            <a:ext cx="804672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GPT-5 wave of conformity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‹20›</a:t>
            </a:r>
          </a:p>
        </p:txBody>
      </p:sp>
      <p:pic>
        <p:nvPicPr>
          <p:cNvPr id="4" name="Picture 3" descr="agent_usag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04672"/>
            <a:ext cx="822960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GPT-5 phrase DNA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‹21›</a:t>
            </a:r>
          </a:p>
        </p:txBody>
      </p:sp>
      <p:pic>
        <p:nvPicPr>
          <p:cNvPr id="4" name="Picture 3" descr="phrase_dn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96112"/>
            <a:ext cx="8065008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Example post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‹22›</a:t>
            </a:r>
          </a:p>
        </p:txBody>
      </p:sp>
      <p:pic>
        <p:nvPicPr>
          <p:cNvPr id="4" name="Picture 3" descr="heartbeat_ping_p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987552"/>
            <a:ext cx="4005072" cy="3429000"/>
          </a:xfrm>
          <a:prstGeom prst="rect">
            <a:avLst/>
          </a:prstGeom>
        </p:spPr>
      </p:pic>
      <p:pic>
        <p:nvPicPr>
          <p:cNvPr id="5" name="Picture 4" descr="receipt_options_owner_p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7552"/>
            <a:ext cx="4005072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19456"/>
            <a:ext cx="8522208" cy="576072"/>
          </a:xfrm>
          <a:prstGeom prst="rect">
            <a:avLst/>
          </a:prstGeom>
          <a:noFill/>
        </p:spPr>
        <p:txBody>
          <a:bodyPr wrap="square" lIns="54864" rIns="54864" tIns="46634" bIns="41148" anchor="t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Lato Black"/>
              </a:rPr>
              <a:t>Appendix: GPT-5 topic concentration by phrase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473659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Lato"/>
              </a:rPr>
              <a:t>‹23›</a:t>
            </a:r>
          </a:p>
        </p:txBody>
      </p:sp>
      <p:pic>
        <p:nvPicPr>
          <p:cNvPr id="4" name="Picture 3" descr="semantic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"/>
            <a:ext cx="8183879" cy="3794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